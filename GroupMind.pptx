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Distinct backers</c:v>
                </c:pt>
              </c:strCache>
            </c:strRef>
          </c:tx>
          <c:spPr>
            <a:solidFill>
              <a:srgbClr val="1285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4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285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85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285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3CED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AC repair</c:v>
                  </c:pt>
                  <c:pt idx="1">
                    <c:v>Electrician</c:v>
                  </c:pt>
                  <c:pt idx="2">
                    <c:v>Plumber</c:v>
                  </c:pt>
                  <c:pt idx="3">
                    <c:v>Typical noise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42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850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pitch: WhatsApp already holds the answers our residents need, but they're unfindable. GroupMind makes the group chat askable in plain English, cites the real messages, and — the part I care about — tells you how many different people independently agreed. That headcount is the trust signal. Keep this slide to ~20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problem in something the senior recognises. The three left-hand points are why WhatsApp's own search fails. The right panel is the crux: the same recommendation is phrased four completely different ways with almost no shared words. Keyword search returns none of these together — which is exactly why we need semantic retrieval, and why counting agreement is hard.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product in one screen — it mirrors the actual UI. Two things to point at: (1) the answer is grounded, every claim traces to real messages shown below it; (2) the green header is the headcount. Search gives you a list; GroupMind gives you an answer plus how many people stand behind it. Offer to run the live demo here or save it for the demo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right, one breath per stage. Stages 1-2 are standard RAG ingestion. Land on 3 and 4 — that's where GroupMind is different. Retrieval solves the phrasing problem from slide 2; consensus is the feature nobody else has. Everything depends only on the VectorStore interface, so swapping the backend changes nothing upstream.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slow down on. The insight: retrieval alone gives you a ranked list, but ranking by cosine similarity doesn't tell you how many independent people agree. We deliberately used lightweight lexical clustering rather than a second embedding pass because chat messages are short and name-bearing, and it keeps every mention attributable to exactly one sender — so the count is trustworthy and explainable. The 8/4/3 are real numbers from the dataset, with a clear margin over the noise floor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senior will care about operational cost and lock-in. Point 2 and 3 are the reassurance: it runs entirely offline and key-free for a demo, and moving to pgvector for production is a config flag, not a rewrite, because everything depends only on the VectorStore interface. The LLM is optional too — the app is useful even with no Anthropic key, which keeps the demo bulletproof.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Credibility slide. The deterministic core — parsing and consensus — was verified standalone against the real dataset before any Spring wiring, so the logic isn't hand-wavy. The 'typical noise' bar is the point: the real recommendations sit well above the 2-sender noise floor, so the signal is clean, not a coincidence of common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room allows, do this live — it lands harder than any slide. First run downloads the embedding model (~90 MB) so it's slower; if I'm demoing on the spot I'll have run it once beforehand so startup is instant. Type the AC repair query, and point at the '8 residents agree' badge appearing. Fallback: the answer card on slide 3 is the same thing if the live demo isn't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being straight about status: the concept is proven and the core algorithms are tested, but this is an MVP, not production. The caveat box matters — say it out loud rather than getting caught by it. Then pivot to what you'd want to do next and invite the senior's input on priorities: real data, eval harness, or hardening first?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4.png"/><Relationship Id="rId5" Type="http://schemas.openxmlformats.org/officeDocument/2006/relationships/image" Target="../media/image-9-4.png"/><Relationship Id="rId6" Type="http://schemas.openxmlformats.org/officeDocument/2006/relationships/image" Target="../media/image-9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D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GroupMind</a:t>
            </a:r>
            <a:pPr indent="0" marL="0">
              <a:buNone/>
            </a:pPr>
            <a:r>
              <a:rPr lang="en-US" sz="6200" b="1" dirty="0">
                <a:solidFill>
                  <a:srgbClr val="4FD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B9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group-chat noise into a searchable,</a:t>
            </a:r>
            <a:endParaRPr lang="en-US" sz="2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B9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cited, consensus-aware knowledge base.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 ·  Java · Spring Boot · Spring 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Bharat  ·  BetterPlace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052560" y="2148840"/>
            <a:ext cx="2468880" cy="2468880"/>
          </a:xfrm>
          <a:prstGeom prst="ellipse">
            <a:avLst/>
          </a:prstGeom>
          <a:solidFill>
            <a:srgbClr val="12855C"/>
          </a:solidFill>
          <a:ln/>
          <a:effectLst>
            <a:outerShdw sx="100000" sy="100000" kx="0" ky="0" algn="bl" rotWithShape="0" blurRad="279400" dist="50800" dir="5400000">
              <a:srgbClr val="12855C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052560" y="253288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9052560" y="37216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7F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RESIDENTS AGREE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32520" y="4754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B9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says how many people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B9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back it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knowledge is already in the group — you just can't find it.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658368" cy="658368"/>
          </a:xfrm>
          <a:prstGeom prst="ellipse">
            <a:avLst/>
          </a:prstGeom>
          <a:solidFill>
            <a:srgbClr val="E3F4EC"/>
          </a:solidFill>
          <a:ln/>
          <a:effectLst>
            <a:outerShdw sx="100000" sy="100000" kx="0" ky="0" algn="bl" rotWithShape="0" blurRad="114300" dist="38100" dir="5400000">
              <a:srgbClr val="0F1620">
                <a:alpha val="14000"/>
              </a:srgbClr>
            </a:outerShdw>
          </a:effectLst>
        </p:spPr>
      </p:sp>
      <p:pic>
        <p:nvPicPr>
          <p:cNvPr id="4" name="Image 0" descr="icons/bu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423" y="1875983"/>
            <a:ext cx="289682" cy="2896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6550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recommendations get buried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54480" y="203911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 guy someone vouched for is 300 messages back, from three weeks ago.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3108960"/>
            <a:ext cx="658368" cy="658368"/>
          </a:xfrm>
          <a:prstGeom prst="ellipse">
            <a:avLst/>
          </a:prstGeom>
          <a:solidFill>
            <a:srgbClr val="E3F4EC"/>
          </a:solidFill>
          <a:ln/>
          <a:effectLst>
            <a:outerShdw sx="100000" sy="100000" kx="0" ky="0" algn="bl" rotWithShape="0" blurRad="114300" dist="38100" dir="5400000">
              <a:srgbClr val="0F1620">
                <a:alpha val="14000"/>
              </a:srgbClr>
            </a:outerShdw>
          </a:effectLst>
        </p:spPr>
      </p:sp>
      <p:pic>
        <p:nvPicPr>
          <p:cNvPr id="8" name="Image 1" descr="icons/searchf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423" y="3293303"/>
            <a:ext cx="289682" cy="2896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30723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 can't see meaning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554480" y="345643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“cooling mechanic”, “AC repair” and “cool care wala” share no keywords — but mean the same person.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4526280"/>
            <a:ext cx="658368" cy="658368"/>
          </a:xfrm>
          <a:prstGeom prst="ellipse">
            <a:avLst/>
          </a:prstGeom>
          <a:solidFill>
            <a:srgbClr val="E3F4EC"/>
          </a:solidFill>
          <a:ln/>
          <a:effectLst>
            <a:outerShdw sx="100000" sy="100000" kx="0" ky="0" algn="bl" rotWithShape="0" blurRad="114300" dist="38100" dir="5400000">
              <a:srgbClr val="0F1620">
                <a:alpha val="14000"/>
              </a:srgbClr>
            </a:outerShdw>
          </a:effectLst>
        </p:spPr>
      </p:sp>
      <p:pic>
        <p:nvPicPr>
          <p:cNvPr id="12" name="Image 2" descr="icons/howman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23" y="4710623"/>
            <a:ext cx="289682" cy="2896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44897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sense of how much to trust it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554480" y="487375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that one neighbour's guess, or did eight people independently name the same vendor?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040880" y="1600200"/>
            <a:ext cx="4480560" cy="4160520"/>
          </a:xfrm>
          <a:prstGeom prst="roundRect">
            <a:avLst>
              <a:gd name="adj" fmla="val 2198"/>
            </a:avLst>
          </a:prstGeom>
          <a:solidFill>
            <a:srgbClr val="F1F5F7"/>
          </a:solidFill>
          <a:ln/>
          <a:effectLst>
            <a:outerShdw sx="100000" sy="100000" kx="0" ky="0" algn="bl" rotWithShape="0" blurRad="114300" dist="38100" dir="16200000">
              <a:srgbClr val="000000">
                <a:alpha val="14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736092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7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RESIDENTS, ONE VENDOR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360920" y="224028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5E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498080" y="22402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“Call the cooling mechanic near gate 2”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60920" y="292608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5E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498080" y="29260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“best AC service wala, very reasonable”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360920" y="361188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5E9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498080" y="36118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cool care guy did my split unit”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360920" y="429768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5E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498080" y="42976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“aircon technician — Ramesh, super reliable”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360920" y="502920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E3F4EC"/>
          </a:solidFill>
          <a:ln w="12700">
            <a:solidFill>
              <a:srgbClr val="B6E0CD"/>
            </a:solidFill>
            <a:prstDash val="solid"/>
          </a:ln>
        </p:spPr>
      </p:sp>
      <p:pic>
        <p:nvPicPr>
          <p:cNvPr id="2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57216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955280" y="50292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point to one vendor: Ramesh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 plain language. Get a cited answer — and a headcount.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7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ASK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12700">
            <a:solidFill>
              <a:srgbClr val="DD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860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 people recommend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 repair?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6A7D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GroupMind reads the group's own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6A7D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— never outside knowledge.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DE5E9"/>
            </a:solidFill>
            <a:prstDash val="solid"/>
          </a:ln>
          <a:effectLst>
            <a:outerShdw sx="100000" sy="100000" kx="0" ky="0" algn="bl" rotWithShape="0" blurRad="114300" dist="38100" dir="5400000">
              <a:srgbClr val="0F162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63640" y="141732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E3F4EC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2103120"/>
            <a:ext cx="5257800" cy="548640"/>
          </a:xfrm>
          <a:prstGeom prst="rect">
            <a:avLst/>
          </a:prstGeom>
          <a:solidFill>
            <a:srgbClr val="E3F4EC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673352"/>
            <a:ext cx="713232" cy="713232"/>
          </a:xfrm>
          <a:prstGeom prst="ellipse">
            <a:avLst/>
          </a:prstGeom>
          <a:solidFill>
            <a:srgbClr val="12855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709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498080" y="17373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C5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residents independently agree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498080" y="21031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8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Vikram · Meena · Fatima · Deepak · Rohit · Karthik · Neha · Anil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A7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0" y="3127248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 repair, residents overwhelmingly point to Ramesh (“Cool Care”) — recommended independently by eight people across the last month.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A7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FROM THE GROUP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0" y="4434840"/>
            <a:ext cx="457200" cy="457200"/>
          </a:xfrm>
          <a:prstGeom prst="ellipse">
            <a:avLst/>
          </a:prstGeom>
          <a:solidFill>
            <a:srgbClr val="E3F4E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8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78040" y="44165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Meena Krishnan   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 from Cool Care is super reliable, fixed our AC same day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0" y="5093208"/>
            <a:ext cx="457200" cy="457200"/>
          </a:xfrm>
          <a:prstGeom prst="ellipse">
            <a:avLst/>
          </a:prstGeom>
          <a:solidFill>
            <a:srgbClr val="E3F4EC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8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78040" y="50749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Vikram Rao   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aircon technician Ramesh — very reasonable charges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a five-stage RAG pipeline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33856" y="2148840"/>
            <a:ext cx="1005840" cy="1005840"/>
          </a:xfrm>
          <a:prstGeom prst="ellipse">
            <a:avLst/>
          </a:prstGeom>
          <a:solidFill>
            <a:srgbClr val="12855C"/>
          </a:solidFill>
          <a:ln/>
          <a:effectLst>
            <a:outerShdw sx="100000" sy="100000" kx="0" ky="0" algn="bl" rotWithShape="0" blurRad="114300" dist="38100" dir="5400000">
              <a:srgbClr val="0F1620">
                <a:alpha val="14000"/>
              </a:srgbClr>
            </a:outerShdw>
          </a:effectLst>
        </p:spPr>
      </p:sp>
      <p:pic>
        <p:nvPicPr>
          <p:cNvPr id="4" name="Image 0" descr="icons/pa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491" y="2430475"/>
            <a:ext cx="442570" cy="4425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810512" y="2020824"/>
            <a:ext cx="384048" cy="384048"/>
          </a:xfrm>
          <a:prstGeom prst="ellipse">
            <a:avLst/>
          </a:prstGeom>
          <a:solidFill>
            <a:srgbClr val="0F1620"/>
          </a:solidFill>
          <a:ln/>
        </p:spPr>
      </p:sp>
      <p:sp>
        <p:nvSpPr>
          <p:cNvPr id="7" name="Text 4"/>
          <p:cNvSpPr/>
          <p:nvPr/>
        </p:nvSpPr>
        <p:spPr>
          <a:xfrm>
            <a:off x="1810512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2644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365760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.txt → structured messages (sender, time, text)</a:t>
            </a:r>
            <a:endParaRPr lang="en-US" sz="1150" dirty="0"/>
          </a:p>
        </p:txBody>
      </p:sp>
      <p:pic>
        <p:nvPicPr>
          <p:cNvPr id="10" name="Image 1" descr="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897" y="2505456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62706" y="2148840"/>
            <a:ext cx="1005840" cy="1005840"/>
          </a:xfrm>
          <a:prstGeom prst="ellipse">
            <a:avLst/>
          </a:prstGeom>
          <a:solidFill>
            <a:srgbClr val="12855C"/>
          </a:solidFill>
          <a:ln/>
          <a:effectLst>
            <a:outerShdw sx="100000" sy="100000" kx="0" ky="0" algn="bl" rotWithShape="0" blurRad="114300" dist="38100" dir="5400000">
              <a:srgbClr val="0F1620">
                <a:alpha val="14000"/>
              </a:srgbClr>
            </a:outerShdw>
          </a:effectLst>
        </p:spPr>
      </p:sp>
      <p:pic>
        <p:nvPicPr>
          <p:cNvPr id="12" name="Image 2" descr="icons/emb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341" y="2430475"/>
            <a:ext cx="442570" cy="44257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57650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039362" y="2020824"/>
            <a:ext cx="384048" cy="384048"/>
          </a:xfrm>
          <a:prstGeom prst="ellipse">
            <a:avLst/>
          </a:prstGeom>
          <a:solidFill>
            <a:srgbClr val="0F1620"/>
          </a:solidFill>
          <a:ln/>
        </p:spPr>
      </p:sp>
      <p:sp>
        <p:nvSpPr>
          <p:cNvPr id="15" name="Text 10"/>
          <p:cNvSpPr/>
          <p:nvPr/>
        </p:nvSpPr>
        <p:spPr>
          <a:xfrm>
            <a:off x="4039362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868930" y="32644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&amp; store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823210" y="365760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 = one chunk, embedded into a vector store</a:t>
            </a:r>
            <a:endParaRPr lang="en-US" sz="1150" dirty="0"/>
          </a:p>
        </p:txBody>
      </p:sp>
      <p:pic>
        <p:nvPicPr>
          <p:cNvPr id="18" name="Image 3" descr="icon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747" y="2505456"/>
            <a:ext cx="292608" cy="29260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591556" y="2148840"/>
            <a:ext cx="1005840" cy="1005840"/>
          </a:xfrm>
          <a:prstGeom prst="ellipse">
            <a:avLst/>
          </a:prstGeom>
          <a:solidFill>
            <a:srgbClr val="12855C"/>
          </a:solidFill>
          <a:ln/>
          <a:effectLst>
            <a:outerShdw sx="100000" sy="100000" kx="0" ky="0" algn="bl" rotWithShape="0" blurRad="114300" dist="38100" dir="5400000">
              <a:srgbClr val="0F1620">
                <a:alpha val="14000"/>
              </a:srgbClr>
            </a:outerShdw>
          </a:effectLst>
        </p:spPr>
      </p:sp>
      <p:pic>
        <p:nvPicPr>
          <p:cNvPr id="20" name="Image 4" descr="icons/retrie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3191" y="2430475"/>
            <a:ext cx="442570" cy="44257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286500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268212" y="2020824"/>
            <a:ext cx="384048" cy="384048"/>
          </a:xfrm>
          <a:prstGeom prst="ellipse">
            <a:avLst/>
          </a:prstGeom>
          <a:solidFill>
            <a:srgbClr val="0F1620"/>
          </a:solidFill>
          <a:ln/>
        </p:spPr>
      </p:sp>
      <p:sp>
        <p:nvSpPr>
          <p:cNvPr id="23" name="Text 16"/>
          <p:cNvSpPr/>
          <p:nvPr/>
        </p:nvSpPr>
        <p:spPr>
          <a:xfrm>
            <a:off x="6268212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097780" y="32644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5052060" y="365760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semantic search — matches meaning, not keywords</a:t>
            </a:r>
            <a:endParaRPr lang="en-US" sz="1150" dirty="0"/>
          </a:p>
        </p:txBody>
      </p:sp>
      <p:pic>
        <p:nvPicPr>
          <p:cNvPr id="26" name="Image 5" descr="icons/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2597" y="2505456"/>
            <a:ext cx="292608" cy="29260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7820406" y="2148840"/>
            <a:ext cx="1005840" cy="1005840"/>
          </a:xfrm>
          <a:prstGeom prst="ellipse">
            <a:avLst/>
          </a:prstGeom>
          <a:solidFill>
            <a:srgbClr val="12855C"/>
          </a:solidFill>
          <a:ln/>
          <a:effectLst>
            <a:outerShdw sx="100000" sy="100000" kx="0" ky="0" algn="bl" rotWithShape="0" blurRad="114300" dist="38100" dir="5400000">
              <a:srgbClr val="0F1620">
                <a:alpha val="14000"/>
              </a:srgbClr>
            </a:outerShdw>
          </a:effectLst>
        </p:spPr>
      </p:sp>
      <p:pic>
        <p:nvPicPr>
          <p:cNvPr id="28" name="Image 6" descr="icons/consensu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2041" y="2430475"/>
            <a:ext cx="442570" cy="44257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515350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497062" y="2020824"/>
            <a:ext cx="384048" cy="384048"/>
          </a:xfrm>
          <a:prstGeom prst="ellipse">
            <a:avLst/>
          </a:prstGeom>
          <a:solidFill>
            <a:srgbClr val="0F1620"/>
          </a:solidFill>
          <a:ln/>
        </p:spPr>
      </p:sp>
      <p:sp>
        <p:nvSpPr>
          <p:cNvPr id="31" name="Text 22"/>
          <p:cNvSpPr/>
          <p:nvPr/>
        </p:nvSpPr>
        <p:spPr>
          <a:xfrm>
            <a:off x="8497062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7326630" y="32644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consensus</a:t>
            </a:r>
            <a:endParaRPr lang="en-US" sz="1500" dirty="0"/>
          </a:p>
        </p:txBody>
      </p:sp>
      <p:sp>
        <p:nvSpPr>
          <p:cNvPr id="33" name="Text 24"/>
          <p:cNvSpPr/>
          <p:nvPr/>
        </p:nvSpPr>
        <p:spPr>
          <a:xfrm>
            <a:off x="7280910" y="365760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the matches, count distinct people backing each</a:t>
            </a:r>
            <a:endParaRPr lang="en-US" sz="1150" dirty="0"/>
          </a:p>
        </p:txBody>
      </p:sp>
      <p:pic>
        <p:nvPicPr>
          <p:cNvPr id="34" name="Image 7" descr="icons/arr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1447" y="2505456"/>
            <a:ext cx="292608" cy="292608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10049256" y="2148840"/>
            <a:ext cx="1005840" cy="1005840"/>
          </a:xfrm>
          <a:prstGeom prst="ellipse">
            <a:avLst/>
          </a:prstGeom>
          <a:solidFill>
            <a:srgbClr val="12855C"/>
          </a:solidFill>
          <a:ln/>
          <a:effectLst>
            <a:outerShdw sx="100000" sy="100000" kx="0" ky="0" algn="bl" rotWithShape="0" blurRad="114300" dist="38100" dir="5400000">
              <a:srgbClr val="0F1620">
                <a:alpha val="14000"/>
              </a:srgbClr>
            </a:outerShdw>
          </a:effectLst>
        </p:spPr>
      </p:sp>
      <p:pic>
        <p:nvPicPr>
          <p:cNvPr id="36" name="Image 8" descr="icons/synthesiz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0891" y="2430475"/>
            <a:ext cx="442570" cy="44257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0744200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10725912" y="2020824"/>
            <a:ext cx="384048" cy="384048"/>
          </a:xfrm>
          <a:prstGeom prst="ellipse">
            <a:avLst/>
          </a:prstGeom>
          <a:solidFill>
            <a:srgbClr val="0F1620"/>
          </a:solidFill>
          <a:ln/>
        </p:spPr>
      </p:sp>
      <p:sp>
        <p:nvSpPr>
          <p:cNvPr id="39" name="Text 28"/>
          <p:cNvSpPr/>
          <p:nvPr/>
        </p:nvSpPr>
        <p:spPr>
          <a:xfrm>
            <a:off x="10725912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9555480" y="32644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</a:t>
            </a:r>
            <a:endParaRPr lang="en-US" sz="1500" dirty="0"/>
          </a:p>
        </p:txBody>
      </p:sp>
      <p:sp>
        <p:nvSpPr>
          <p:cNvPr id="41" name="Text 30"/>
          <p:cNvSpPr/>
          <p:nvPr/>
        </p:nvSpPr>
        <p:spPr>
          <a:xfrm>
            <a:off x="9509760" y="365760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with citations + the agreement count</a:t>
            </a:r>
            <a:endParaRPr lang="en-US" sz="1150" dirty="0"/>
          </a:p>
        </p:txBody>
      </p:sp>
      <p:sp>
        <p:nvSpPr>
          <p:cNvPr id="42" name="Shape 31"/>
          <p:cNvSpPr/>
          <p:nvPr/>
        </p:nvSpPr>
        <p:spPr>
          <a:xfrm>
            <a:off x="640080" y="562356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E3F4EC"/>
          </a:solidFill>
          <a:ln/>
        </p:spPr>
      </p:sp>
      <p:pic>
        <p:nvPicPr>
          <p:cNvPr id="43" name="Image 9" descr="icons/ide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" y="5824728"/>
            <a:ext cx="365760" cy="36576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1554480" y="5623560"/>
            <a:ext cx="9720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C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3 + 4 are the heart of it: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 makes phrasing variance a non-issue, and the consensus step turns those matches into a trustworthy headcount.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differentiator: counting who actually agrees</a:t>
            </a:r>
            <a:endParaRPr lang="en-US" sz="2700" dirty="0"/>
          </a:p>
        </p:txBody>
      </p:sp>
      <p:pic>
        <p:nvPicPr>
          <p:cNvPr id="3" name="Image 0" descr="icons/chec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10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73736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B9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brings back every phrasing of the same recommendation.</a:t>
            </a:r>
            <a:endParaRPr lang="en-US" sz="1500" dirty="0"/>
          </a:p>
        </p:txBody>
      </p:sp>
      <p:pic>
        <p:nvPicPr>
          <p:cNvPr id="5" name="Image 1" descr="icons/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62072"/>
            <a:ext cx="310896" cy="3108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278892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B9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clustering collapses the vendor's name — written many ways, usually lowercase — and drops the category words everyone shares (“repair”, “cooling”).</a:t>
            </a:r>
            <a:endParaRPr lang="en-US" sz="1500" dirty="0"/>
          </a:p>
        </p:txBody>
      </p:sp>
      <p:pic>
        <p:nvPicPr>
          <p:cNvPr id="7" name="Image 2" descr="icons/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13632"/>
            <a:ext cx="310896" cy="3108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43000" y="384048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B9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count DISTINCT senders. That headcount is the trust signal a single top search hit can never give you.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7498080" y="1691640"/>
            <a:ext cx="4069080" cy="1280160"/>
          </a:xfrm>
          <a:prstGeom prst="roundRect">
            <a:avLst>
              <a:gd name="adj" fmla="val 5714"/>
            </a:avLst>
          </a:prstGeom>
          <a:solidFill>
            <a:srgbClr val="16222E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726680" y="1801368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D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5200" dirty="0"/>
          </a:p>
        </p:txBody>
      </p:sp>
      <p:sp>
        <p:nvSpPr>
          <p:cNvPr id="11" name="Text 6"/>
          <p:cNvSpPr/>
          <p:nvPr/>
        </p:nvSpPr>
        <p:spPr>
          <a:xfrm>
            <a:off x="9098280" y="18928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residents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9098280" y="21671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repair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9098280" y="25511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 / Cool Care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498080" y="3136392"/>
            <a:ext cx="4069080" cy="1280160"/>
          </a:xfrm>
          <a:prstGeom prst="roundRect">
            <a:avLst>
              <a:gd name="adj" fmla="val 5714"/>
            </a:avLst>
          </a:prstGeom>
          <a:solidFill>
            <a:srgbClr val="16222E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726680" y="32461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D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200" dirty="0"/>
          </a:p>
        </p:txBody>
      </p:sp>
      <p:sp>
        <p:nvSpPr>
          <p:cNvPr id="16" name="Text 11"/>
          <p:cNvSpPr/>
          <p:nvPr/>
        </p:nvSpPr>
        <p:spPr>
          <a:xfrm>
            <a:off x="9098280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residents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909828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Electrician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098280" y="39959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Sunil Electricals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498080" y="4581144"/>
            <a:ext cx="4069080" cy="1280160"/>
          </a:xfrm>
          <a:prstGeom prst="roundRect">
            <a:avLst>
              <a:gd name="adj" fmla="val 5714"/>
            </a:avLst>
          </a:prstGeom>
          <a:solidFill>
            <a:srgbClr val="16222E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726680" y="4690872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D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200" dirty="0"/>
          </a:p>
        </p:txBody>
      </p:sp>
      <p:sp>
        <p:nvSpPr>
          <p:cNvPr id="21" name="Text 16"/>
          <p:cNvSpPr/>
          <p:nvPr/>
        </p:nvSpPr>
        <p:spPr>
          <a:xfrm>
            <a:off x="9098280" y="4782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residents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9098280" y="50566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Plumber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9098280" y="5440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Iqbal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7498080" y="604418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E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 the sample dataset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run anywhere, and cost nothing to demo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271516" cy="1783080"/>
          </a:xfrm>
          <a:prstGeom prst="roundRect">
            <a:avLst>
              <a:gd name="adj" fmla="val 3590"/>
            </a:avLst>
          </a:prstGeom>
          <a:solidFill>
            <a:srgbClr val="F1F5F7"/>
          </a:solidFill>
          <a:ln/>
          <a:effectLst>
            <a:outerShdw sx="100000" sy="100000" kx="0" ky="0" algn="bl" rotWithShape="0" blurRad="114300" dist="38100" dir="5400000">
              <a:srgbClr val="0F162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2057400"/>
            <a:ext cx="777240" cy="777240"/>
          </a:xfrm>
          <a:prstGeom prst="ellipse">
            <a:avLst/>
          </a:prstGeom>
          <a:solidFill>
            <a:srgbClr val="12855C"/>
          </a:solidFill>
          <a:ln/>
          <a:effectLst>
            <a:outerShdw sx="100000" sy="100000" kx="0" ky="0" algn="bl" rotWithShape="0" blurRad="114300" dist="38100" dir="5400000">
              <a:srgbClr val="0F1620">
                <a:alpha val="14000"/>
              </a:srgbClr>
            </a:outerShdw>
          </a:effectLst>
        </p:spPr>
      </p:sp>
      <p:pic>
        <p:nvPicPr>
          <p:cNvPr id="5" name="Image 0" descr="icons/ja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467" y="2275027"/>
            <a:ext cx="341986" cy="3419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2075688"/>
            <a:ext cx="36255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stack we already use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011680" y="2514600"/>
            <a:ext cx="3625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· Spring Boot 3.4 · Spring AI 1.0 — nothing exotic for the team to learn.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77356" y="1691640"/>
            <a:ext cx="5271516" cy="1783080"/>
          </a:xfrm>
          <a:prstGeom prst="roundRect">
            <a:avLst>
              <a:gd name="adj" fmla="val 3590"/>
            </a:avLst>
          </a:prstGeom>
          <a:solidFill>
            <a:srgbClr val="F1F5F7"/>
          </a:solidFill>
          <a:ln/>
          <a:effectLst>
            <a:outerShdw sx="100000" sy="100000" kx="0" ky="0" algn="bl" rotWithShape="0" blurRad="114300" dist="38100" dir="5400000">
              <a:srgbClr val="0F162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43116" y="2057400"/>
            <a:ext cx="777240" cy="777240"/>
          </a:xfrm>
          <a:prstGeom prst="ellipse">
            <a:avLst/>
          </a:prstGeom>
          <a:solidFill>
            <a:srgbClr val="12855C"/>
          </a:solidFill>
          <a:ln/>
          <a:effectLst>
            <a:outerShdw sx="100000" sy="100000" kx="0" ky="0" algn="bl" rotWithShape="0" blurRad="114300" dist="38100" dir="5400000">
              <a:srgbClr val="0F1620">
                <a:alpha val="14000"/>
              </a:srgbClr>
            </a:outerShdw>
          </a:effectLst>
        </p:spPr>
      </p:sp>
      <p:pic>
        <p:nvPicPr>
          <p:cNvPr id="10" name="Image 1" descr="icons/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743" y="2275027"/>
            <a:ext cx="341986" cy="3419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48956" y="2075688"/>
            <a:ext cx="36255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Key-free embeddings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648956" y="2514600"/>
            <a:ext cx="3625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ONNX all-MiniLM-L6-v2 runs inside the JVM. No embedding API, no API key.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794760"/>
            <a:ext cx="5271516" cy="1783080"/>
          </a:xfrm>
          <a:prstGeom prst="roundRect">
            <a:avLst>
              <a:gd name="adj" fmla="val 3590"/>
            </a:avLst>
          </a:prstGeom>
          <a:solidFill>
            <a:srgbClr val="F1F5F7"/>
          </a:solidFill>
          <a:ln/>
          <a:effectLst>
            <a:outerShdw sx="100000" sy="100000" kx="0" ky="0" algn="bl" rotWithShape="0" blurRad="114300" dist="38100" dir="5400000">
              <a:srgbClr val="0F162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05840" y="4160520"/>
            <a:ext cx="777240" cy="777240"/>
          </a:xfrm>
          <a:prstGeom prst="ellipse">
            <a:avLst/>
          </a:prstGeom>
          <a:solidFill>
            <a:srgbClr val="12855C"/>
          </a:solidFill>
          <a:ln/>
          <a:effectLst>
            <a:outerShdw sx="100000" sy="100000" kx="0" ky="0" algn="bl" rotWithShape="0" blurRad="114300" dist="38100" dir="5400000">
              <a:srgbClr val="0F1620">
                <a:alpha val="14000"/>
              </a:srgbClr>
            </a:outerShdw>
          </a:effectLst>
        </p:spPr>
      </p:sp>
      <p:pic>
        <p:nvPicPr>
          <p:cNvPr id="15" name="Image 2" descr="icons/sto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467" y="4378147"/>
            <a:ext cx="341986" cy="3419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11680" y="4178808"/>
            <a:ext cx="36255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Swappable vector store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2011680" y="4617720"/>
            <a:ext cx="3625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by default; Postgres + pgvector is one Maven profile away, no code change.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277356" y="3794760"/>
            <a:ext cx="5271516" cy="1783080"/>
          </a:xfrm>
          <a:prstGeom prst="roundRect">
            <a:avLst>
              <a:gd name="adj" fmla="val 3590"/>
            </a:avLst>
          </a:prstGeom>
          <a:solidFill>
            <a:srgbClr val="F1F5F7"/>
          </a:solidFill>
          <a:ln/>
          <a:effectLst>
            <a:outerShdw sx="100000" sy="100000" kx="0" ky="0" algn="bl" rotWithShape="0" blurRad="114300" dist="38100" dir="5400000">
              <a:srgbClr val="0F162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643116" y="4160520"/>
            <a:ext cx="777240" cy="777240"/>
          </a:xfrm>
          <a:prstGeom prst="ellipse">
            <a:avLst/>
          </a:prstGeom>
          <a:solidFill>
            <a:srgbClr val="12855C"/>
          </a:solidFill>
          <a:ln/>
          <a:effectLst>
            <a:outerShdw sx="100000" sy="100000" kx="0" ky="0" algn="bl" rotWithShape="0" blurRad="114300" dist="38100" dir="5400000">
              <a:srgbClr val="0F1620">
                <a:alpha val="14000"/>
              </a:srgbClr>
            </a:outerShdw>
          </a:effectLst>
        </p:spPr>
      </p:sp>
      <p:pic>
        <p:nvPicPr>
          <p:cNvPr id="20" name="Image 3" descr="icons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743" y="4378147"/>
            <a:ext cx="341986" cy="34198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48956" y="4178808"/>
            <a:ext cx="36255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LLM synthesis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648956" y="4617720"/>
            <a:ext cx="3625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the answer when configured — otherwise a grounded deterministic fallback.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40080" y="5715000"/>
            <a:ext cx="10908792" cy="640080"/>
          </a:xfrm>
          <a:prstGeom prst="roundRect">
            <a:avLst>
              <a:gd name="adj" fmla="val 11429"/>
            </a:avLst>
          </a:prstGeom>
          <a:solidFill>
            <a:srgbClr val="E3F4EC"/>
          </a:solidFill>
          <a:ln/>
        </p:spPr>
      </p:sp>
      <p:sp>
        <p:nvSpPr>
          <p:cNvPr id="24" name="Text 18"/>
          <p:cNvSpPr/>
          <p:nvPr/>
        </p:nvSpPr>
        <p:spPr>
          <a:xfrm>
            <a:off x="1005840" y="5715000"/>
            <a:ext cx="1017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path: </a:t>
            </a:r>
            <a:pPr indent="0" marL="0">
              <a:buNone/>
            </a:pPr>
            <a:r>
              <a:rPr lang="en-US" sz="13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keys, zero database — one command (</a:t>
            </a:r>
            <a:pPr indent="0" marL="0">
              <a:buNone/>
            </a:pPr>
            <a:r>
              <a:rPr lang="en-US" sz="1350" dirty="0">
                <a:solidFill>
                  <a:srgbClr val="14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spring-boot:run</a:t>
            </a:r>
            <a:pPr indent="0" marL="0">
              <a:buNone/>
            </a:pPr>
            <a:r>
              <a:rPr lang="en-US" sz="135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it's live.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against a real dataset before wiring the app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A7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PEOPLE BACKING EACH RECOMMENDATION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965960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Image 0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892808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9808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 messages · 17 residents · 6 weeks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498080" y="2331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synthetic society chat — messy, Hinglish, multi-line, with decoy vendor threads.</a:t>
            </a:r>
            <a:endParaRPr lang="en-US" sz="1300" dirty="0"/>
          </a:p>
        </p:txBody>
      </p:sp>
      <p:pic>
        <p:nvPicPr>
          <p:cNvPr id="8" name="Image 1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264408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9808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Parser: clean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7498080" y="3703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system lines leaked as messages; multi-line messages joined intact.</a:t>
            </a:r>
            <a:endParaRPr lang="en-US" sz="1300" dirty="0"/>
          </a:p>
        </p:txBody>
      </p:sp>
      <p:pic>
        <p:nvPicPr>
          <p:cNvPr id="11" name="Image 2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636008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9808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Consensus: correct every time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7498080" y="5074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vendor ranked #1 for AC, electrician and plumber — with clear margin over noise.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one command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6309360" cy="3566160"/>
          </a:xfrm>
          <a:prstGeom prst="roundRect">
            <a:avLst>
              <a:gd name="adj" fmla="val 2051"/>
            </a:avLst>
          </a:prstGeom>
          <a:solidFill>
            <a:srgbClr val="0A1017"/>
          </a:solidFill>
          <a:ln w="12700">
            <a:solidFill>
              <a:srgbClr val="26354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62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2011680"/>
            <a:ext cx="146304" cy="146304"/>
          </a:xfrm>
          <a:prstGeom prst="ellipse">
            <a:avLst/>
          </a:prstGeom>
          <a:solidFill>
            <a:srgbClr val="E06C61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2011680"/>
            <a:ext cx="146304" cy="146304"/>
          </a:xfrm>
          <a:prstGeom prst="ellipse">
            <a:avLst/>
          </a:prstGeom>
          <a:solidFill>
            <a:srgbClr val="E6C15E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2011680"/>
            <a:ext cx="146304" cy="146304"/>
          </a:xfrm>
          <a:prstGeom prst="ellipse">
            <a:avLst/>
          </a:prstGeom>
          <a:solidFill>
            <a:srgbClr val="5EB96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7744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FD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mvn spring-boot:run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3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Parsed 199 messages; embedding + storing…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3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Ingestion complete: 199 messages embedded.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3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Tomcat started on port 8080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Started GroupMindApplication in 6.2s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7D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http://localhost:8080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D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2194560"/>
            <a:ext cx="457200" cy="457200"/>
          </a:xfrm>
          <a:prstGeom prst="ellipse">
            <a:avLst/>
          </a:prstGeom>
          <a:solidFill>
            <a:srgbClr val="12855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55280" y="213969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0" y="2468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B9C7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spring-boot:run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0" y="3108960"/>
            <a:ext cx="457200" cy="457200"/>
          </a:xfrm>
          <a:prstGeom prst="ellipse">
            <a:avLst/>
          </a:prstGeom>
          <a:solidFill>
            <a:srgbClr val="12855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0" y="305409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55280" y="3383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B9C7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localhost:8080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0" y="4023360"/>
            <a:ext cx="457200" cy="457200"/>
          </a:xfrm>
          <a:prstGeom prst="ellipse">
            <a:avLst/>
          </a:prstGeom>
          <a:solidFill>
            <a:srgbClr val="12855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55280" y="396849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55280" y="4297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B9C7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do people recommend for AC repair?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0" y="5074920"/>
            <a:ext cx="4480560" cy="685800"/>
          </a:xfrm>
          <a:prstGeom prst="roundRect">
            <a:avLst>
              <a:gd name="adj" fmla="val 12000"/>
            </a:avLst>
          </a:prstGeom>
          <a:solidFill>
            <a:srgbClr val="16222E"/>
          </a:solidFill>
          <a:ln w="12700">
            <a:solidFill>
              <a:srgbClr val="12855C"/>
            </a:solidFill>
            <a:prstDash val="solid"/>
          </a:ln>
        </p:spPr>
      </p:sp>
      <p:pic>
        <p:nvPicPr>
          <p:cNvPr id="22" name="Image 0" descr="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5285232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909560" y="5074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D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“8 residents agree” + citations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stands, and what's next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300" dirty="0"/>
          </a:p>
        </p:txBody>
      </p:sp>
      <p:pic>
        <p:nvPicPr>
          <p:cNvPr id="4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75688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0299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end-to-end MVP — ingest, retrieve, consensus, cited answer.</a:t>
            </a:r>
            <a:endParaRPr lang="en-US" sz="1400" dirty="0"/>
          </a:p>
        </p:txBody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35808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299008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 (parser + consensus) verified on real data.</a:t>
            </a:r>
            <a:endParaRPr lang="en-US" sz="1400" dirty="0"/>
          </a:p>
        </p:txBody>
      </p:sp>
      <p:pic>
        <p:nvPicPr>
          <p:cNvPr id="8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95928"/>
            <a:ext cx="310896" cy="3108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39502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key-free and DB-free; pgvector and Claude are opt-in.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6355080" y="16002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A7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300" dirty="0"/>
          </a:p>
        </p:txBody>
      </p:sp>
      <p:pic>
        <p:nvPicPr>
          <p:cNvPr id="11" name="Image 3" descr="icon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093976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858000" y="20299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consented group data — and support for multiple groups.</a:t>
            </a:r>
            <a:endParaRPr lang="en-US" sz="1400" dirty="0"/>
          </a:p>
        </p:txBody>
      </p:sp>
      <p:pic>
        <p:nvPicPr>
          <p:cNvPr id="13" name="Image 4" descr="icons/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054096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858000" y="299008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Embedding-based clustering + an evaluation harness for retrieval quality.</a:t>
            </a:r>
            <a:endParaRPr lang="en-US" sz="1400" dirty="0"/>
          </a:p>
        </p:txBody>
      </p:sp>
      <p:pic>
        <p:nvPicPr>
          <p:cNvPr id="15" name="Image 5" descr="icons/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4014216"/>
            <a:ext cx="292608" cy="29260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858000" y="39502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a hardened API before any real deployment.</a:t>
            </a:r>
            <a:endParaRPr lang="en-US" sz="1400" dirty="0"/>
          </a:p>
        </p:txBody>
      </p:sp>
      <p:sp>
        <p:nvSpPr>
          <p:cNvPr id="17" name="Shape 9"/>
          <p:cNvSpPr/>
          <p:nvPr/>
        </p:nvSpPr>
        <p:spPr>
          <a:xfrm>
            <a:off x="640080" y="516636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1F5F7"/>
          </a:solidFill>
          <a:ln/>
        </p:spPr>
      </p:sp>
      <p:sp>
        <p:nvSpPr>
          <p:cNvPr id="18" name="Text 10"/>
          <p:cNvSpPr/>
          <p:nvPr/>
        </p:nvSpPr>
        <p:spPr>
          <a:xfrm>
            <a:off x="1005840" y="5166360"/>
            <a:ext cx="10177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honest note: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logic is verified, but the app hasn't been compiled or booted in my build environment yet. The Spring AI wiring targets version 1.0.0 — expect a small builder-name nudge or two on first compile.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GroupMind</dc:title>
  <dc:subject>PptxGenJS Presentation</dc:subject>
  <dc:creator>Bharat</dc:creator>
  <cp:lastModifiedBy>Bharat</cp:lastModifiedBy>
  <cp:revision>1</cp:revision>
  <dcterms:created xsi:type="dcterms:W3CDTF">2026-07-06T18:54:37Z</dcterms:created>
  <dcterms:modified xsi:type="dcterms:W3CDTF">2026-07-06T18:54:37Z</dcterms:modified>
</cp:coreProperties>
</file>